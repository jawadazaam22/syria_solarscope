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78" r:id="rId5"/>
    <p:sldId id="269" r:id="rId6"/>
    <p:sldId id="288" r:id="rId7"/>
    <p:sldId id="290" r:id="rId8"/>
    <p:sldId id="289" r:id="rId9"/>
    <p:sldId id="291" r:id="rId10"/>
    <p:sldId id="277" r:id="rId11"/>
    <p:sldId id="268" r:id="rId1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69DF855-2044-4378-D382-97019082214F}" name="Eda nur Saruhan" initials="" userId="S::eda.nur.saruhan@undp.org::c5d9941d-5539-4cc6-837d-40b768a4e45a" providerId="AD"/>
  <p188:author id="{5773C6ED-D5C0-6998-8565-4039F0794B89}" name="carlosnieto_r@hotmail.com" initials="ca" userId="S::urn:spo:guest#carlosnieto_r@hotmail.com::" providerId="AD"/>
  <p188:author id="{AD2977F2-1110-00CA-B921-CFBBF1E22859}" name="Ipek Beril Benli" initials="IB" userId="S::ipek.beril.benli@undp.org::8f9c5f4b-b22c-49ff-bdd5-d07e2760743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2A49"/>
    <a:srgbClr val="4618DE"/>
    <a:srgbClr val="6E1E90"/>
    <a:srgbClr val="F04A23"/>
    <a:srgbClr val="EE482C"/>
    <a:srgbClr val="4617DE"/>
    <a:srgbClr val="FE2E46"/>
    <a:srgbClr val="9D67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6"/>
    <p:restoredTop sz="94645"/>
  </p:normalViewPr>
  <p:slideViewPr>
    <p:cSldViewPr snapToGrid="0">
      <p:cViewPr varScale="1">
        <p:scale>
          <a:sx n="162" d="100"/>
          <a:sy n="162" d="100"/>
        </p:scale>
        <p:origin x="17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customXml" Target="../customXml/item3.xml"/><Relationship Id="rId18" Type="http://schemas.openxmlformats.org/officeDocument/2006/relationships/customXml" Target="../customXml/item2.xml"/><Relationship Id="rId17" Type="http://schemas.openxmlformats.org/officeDocument/2006/relationships/customXml" Target="../customXml/item1.xml"/><Relationship Id="rId16" Type="http://schemas.microsoft.com/office/2018/10/relationships/authors" Target="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66" name="Shape 46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 panose="020F0502020204030204"/>
      </a:defRPr>
    </a:lvl1pPr>
    <a:lvl2pPr indent="228600" latinLnBrk="0">
      <a:defRPr sz="1200">
        <a:latin typeface="+mj-lt"/>
        <a:ea typeface="+mj-ea"/>
        <a:cs typeface="+mj-cs"/>
        <a:sym typeface="Calibri" panose="020F0502020204030204"/>
      </a:defRPr>
    </a:lvl2pPr>
    <a:lvl3pPr indent="457200" latinLnBrk="0">
      <a:defRPr sz="1200">
        <a:latin typeface="+mj-lt"/>
        <a:ea typeface="+mj-ea"/>
        <a:cs typeface="+mj-cs"/>
        <a:sym typeface="Calibri" panose="020F0502020204030204"/>
      </a:defRPr>
    </a:lvl3pPr>
    <a:lvl4pPr indent="685800" latinLnBrk="0">
      <a:defRPr sz="1200">
        <a:latin typeface="+mj-lt"/>
        <a:ea typeface="+mj-ea"/>
        <a:cs typeface="+mj-cs"/>
        <a:sym typeface="Calibri" panose="020F0502020204030204"/>
      </a:defRPr>
    </a:lvl4pPr>
    <a:lvl5pPr indent="914400" latinLnBrk="0">
      <a:defRPr sz="1200">
        <a:latin typeface="+mj-lt"/>
        <a:ea typeface="+mj-ea"/>
        <a:cs typeface="+mj-cs"/>
        <a:sym typeface="Calibri" panose="020F0502020204030204"/>
      </a:defRPr>
    </a:lvl5pPr>
    <a:lvl6pPr indent="1143000" latinLnBrk="0">
      <a:defRPr sz="1200">
        <a:latin typeface="+mj-lt"/>
        <a:ea typeface="+mj-ea"/>
        <a:cs typeface="+mj-cs"/>
        <a:sym typeface="Calibri" panose="020F0502020204030204"/>
      </a:defRPr>
    </a:lvl6pPr>
    <a:lvl7pPr indent="1371600" latinLnBrk="0">
      <a:defRPr sz="1200">
        <a:latin typeface="+mj-lt"/>
        <a:ea typeface="+mj-ea"/>
        <a:cs typeface="+mj-cs"/>
        <a:sym typeface="Calibri" panose="020F0502020204030204"/>
      </a:defRPr>
    </a:lvl7pPr>
    <a:lvl8pPr indent="1600200" latinLnBrk="0">
      <a:defRPr sz="1200">
        <a:latin typeface="+mj-lt"/>
        <a:ea typeface="+mj-ea"/>
        <a:cs typeface="+mj-cs"/>
        <a:sym typeface="Calibri" panose="020F0502020204030204"/>
      </a:defRPr>
    </a:lvl8pPr>
    <a:lvl9pPr indent="1828800" latinLnBrk="0">
      <a:defRPr sz="1200">
        <a:latin typeface="+mj-lt"/>
        <a:ea typeface="+mj-ea"/>
        <a:cs typeface="+mj-cs"/>
        <a:sym typeface="Calibri" panose="020F050202020403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4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5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6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9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8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8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2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8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9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0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0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0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5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Two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4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4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6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6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6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6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77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78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79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8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8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9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9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19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3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1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0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0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0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206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20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23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24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25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26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2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3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3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3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39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4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4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5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5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5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5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wo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6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6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6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6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6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Comparis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7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7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7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039652" y="1987368"/>
            <a:ext cx="4957923" cy="59710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987367"/>
            <a:ext cx="4980148" cy="6010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</a:p>
        </p:txBody>
      </p:sp>
      <p:sp>
        <p:nvSpPr>
          <p:cNvPr id="28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8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9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9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9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01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02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03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1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1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1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1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31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7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2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2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2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29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330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33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47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48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49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5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5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60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61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62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63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6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73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74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75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76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7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9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9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9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9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039652" y="1987368"/>
            <a:ext cx="4957923" cy="59710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987367"/>
            <a:ext cx="4980148" cy="6010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</a:p>
        </p:txBody>
      </p:sp>
      <p:sp>
        <p:nvSpPr>
          <p:cNvPr id="40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0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1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1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1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21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22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23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3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3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3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3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4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37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4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4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4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4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49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450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45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9653" y="1153987"/>
            <a:ext cx="10112695" cy="9212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653" y="2087362"/>
            <a:ext cx="4919546" cy="408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2802" y="2087362"/>
            <a:ext cx="4919546" cy="4089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9" Type="http://schemas.openxmlformats.org/officeDocument/2006/relationships/theme" Target="../theme/theme1.xml"/><Relationship Id="rId38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>
            <a:spLocks noGrp="1"/>
          </p:cNvSpPr>
          <p:nvPr>
            <p:ph type="body" idx="1"/>
          </p:nvPr>
        </p:nvSpPr>
        <p:spPr>
          <a:xfrm>
            <a:off x="1049144" y="2007218"/>
            <a:ext cx="10093712" cy="41697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039653" y="1064778"/>
            <a:ext cx="10112696" cy="92125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84232" y="6414758"/>
            <a:ext cx="258625" cy="24830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2.pn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2.xml"/><Relationship Id="rId7" Type="http://schemas.openxmlformats.org/officeDocument/2006/relationships/image" Target="../media/image14.png"/><Relationship Id="rId6" Type="http://schemas.openxmlformats.org/officeDocument/2006/relationships/customXml" Target="../ink/ink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4.xml"/><Relationship Id="rId7" Type="http://schemas.openxmlformats.org/officeDocument/2006/relationships/image" Target="../media/image14.png"/><Relationship Id="rId6" Type="http://schemas.openxmlformats.org/officeDocument/2006/relationships/customXml" Target="../ink/ink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6.xml"/><Relationship Id="rId7" Type="http://schemas.openxmlformats.org/officeDocument/2006/relationships/image" Target="../media/image14.png"/><Relationship Id="rId6" Type="http://schemas.openxmlformats.org/officeDocument/2006/relationships/customXml" Target="../ink/ink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4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8.xml"/><Relationship Id="rId7" Type="http://schemas.openxmlformats.org/officeDocument/2006/relationships/image" Target="../media/image14.png"/><Relationship Id="rId6" Type="http://schemas.openxmlformats.org/officeDocument/2006/relationships/customXml" Target="../ink/ink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3" Type="http://schemas.openxmlformats.org/officeDocument/2006/relationships/notesSlide" Target="../notesSlides/notesSlide5.xml"/><Relationship Id="rId12" Type="http://schemas.openxmlformats.org/officeDocument/2006/relationships/slideLayout" Target="../slideLayouts/slideLayout31.xml"/><Relationship Id="rId11" Type="http://schemas.openxmlformats.org/officeDocument/2006/relationships/image" Target="../media/image17.png"/><Relationship Id="rId10" Type="http://schemas.openxmlformats.org/officeDocument/2006/relationships/image" Target="../media/image16.pn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10.xml"/><Relationship Id="rId7" Type="http://schemas.openxmlformats.org/officeDocument/2006/relationships/image" Target="../media/image14.png"/><Relationship Id="rId6" Type="http://schemas.openxmlformats.org/officeDocument/2006/relationships/customXml" Target="../ink/ink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6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12.xml"/><Relationship Id="rId7" Type="http://schemas.openxmlformats.org/officeDocument/2006/relationships/image" Target="../media/image14.png"/><Relationship Id="rId6" Type="http://schemas.openxmlformats.org/officeDocument/2006/relationships/customXml" Target="../ink/ink1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7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erson sitting at a desk using a computer&#10;&#10;Description automatically generated"/>
          <p:cNvPicPr>
            <a:picLocks noChangeAspect="1"/>
          </p:cNvPicPr>
          <p:nvPr/>
        </p:nvPicPr>
        <p:blipFill rotWithShape="1">
          <a:blip r:embed="rId1"/>
          <a:srcRect l="28" t="125" r="5881" b="35700"/>
          <a:stretch>
            <a:fillRect/>
          </a:stretch>
        </p:blipFill>
        <p:spPr>
          <a:xfrm>
            <a:off x="-2985" y="1339747"/>
            <a:ext cx="12225969" cy="5533684"/>
          </a:xfrm>
          <a:prstGeom prst="rect">
            <a:avLst/>
          </a:prstGeom>
        </p:spPr>
      </p:pic>
      <p:sp>
        <p:nvSpPr>
          <p:cNvPr id="468" name="Rectangle"/>
          <p:cNvSpPr/>
          <p:nvPr/>
        </p:nvSpPr>
        <p:spPr>
          <a:xfrm>
            <a:off x="-11767" y="1339747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5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6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" name="Rectangle"/>
          <p:cNvSpPr/>
          <p:nvPr/>
        </p:nvSpPr>
        <p:spPr>
          <a:xfrm rot="21420000">
            <a:off x="7960507" y="3797677"/>
            <a:ext cx="2705697" cy="612972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76" name="A new generation…"/>
          <p:cNvSpPr txBox="1"/>
          <p:nvPr/>
        </p:nvSpPr>
        <p:spPr>
          <a:xfrm>
            <a:off x="6093185" y="3184368"/>
            <a:ext cx="4337083" cy="1231106"/>
          </a:xfrm>
          <a:prstGeom prst="rect">
            <a:avLst/>
          </a:prstGeom>
          <a:ln w="12700">
            <a:miter lim="400000"/>
          </a:ln>
        </p:spPr>
        <p:txBody>
          <a:bodyPr wrap="non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b="1" dirty="0">
                <a:latin typeface="Microsoft YaHei" panose="020B0503020204020204" charset="-122"/>
              </a:rPr>
              <a:t>A new generation</a:t>
            </a:r>
            <a:endParaRPr lang="en-US" b="1" dirty="0"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b="1" dirty="0">
                <a:latin typeface="Microsoft YaHei" panose="020B0503020204020204" charset="-122"/>
              </a:rPr>
              <a:t>of tech specialists</a:t>
            </a:r>
            <a:endParaRPr b="1" dirty="0">
              <a:latin typeface="Microsoft YaHei" panose="020B0503020204020204" charset="-122"/>
            </a:endParaRPr>
          </a:p>
        </p:txBody>
      </p:sp>
      <p:sp>
        <p:nvSpPr>
          <p:cNvPr id="3" name="A new generation…"/>
          <p:cNvSpPr txBox="1"/>
          <p:nvPr/>
        </p:nvSpPr>
        <p:spPr>
          <a:xfrm>
            <a:off x="6485219" y="5015511"/>
            <a:ext cx="3606113" cy="661720"/>
          </a:xfrm>
          <a:prstGeom prst="rect">
            <a:avLst/>
          </a:prstGeom>
          <a:ln w="12700">
            <a:miter lim="400000"/>
          </a:ln>
        </p:spPr>
        <p:txBody>
          <a:bodyPr wrap="non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tr-TR" b="1" dirty="0">
                <a:solidFill>
                  <a:schemeClr val="bg1"/>
                </a:solidFill>
                <a:latin typeface="Microsoft YaHei" panose="020B0503020204020204" charset="-122"/>
              </a:rPr>
              <a:t>Group 8</a:t>
            </a:r>
            <a:endParaRPr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"/>
          <p:cNvSpPr/>
          <p:nvPr/>
        </p:nvSpPr>
        <p:spPr>
          <a:xfrm>
            <a:off x="-5486292" y="1322899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5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6" name="A new generation…"/>
          <p:cNvSpPr txBox="1"/>
          <p:nvPr/>
        </p:nvSpPr>
        <p:spPr>
          <a:xfrm>
            <a:off x="7415288" y="1866821"/>
            <a:ext cx="4345976" cy="3415030"/>
          </a:xfrm>
          <a:prstGeom prst="rect">
            <a:avLst/>
          </a:prstGeom>
          <a:ln w="12700">
            <a:miter lim="400000"/>
          </a:ln>
        </p:spPr>
        <p:txBody>
          <a:bodyPr wrap="square" lIns="45719" tIns="45720" rIns="45719" bIns="45720" anchor="t">
            <a:spAutoFit/>
          </a:bodyPr>
          <a:lstStyle/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Syria SolarScope / Group 8</a:t>
            </a:r>
            <a:endParaRPr 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 </a:t>
            </a:r>
            <a:endParaRPr 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Jawad Osama Alshepli Azzam,</a:t>
            </a:r>
            <a:endParaRPr 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 </a:t>
            </a:r>
            <a:r>
              <a:rPr lang="en-US" alt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Hadi Alkhaier,</a:t>
            </a:r>
            <a:endParaRPr lang="en-US" alt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Ibrahim Solaiman,</a:t>
            </a:r>
            <a:endParaRPr lang="en-US" alt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Mahmoud Mamo,</a:t>
            </a:r>
            <a:endParaRPr lang="en-US" alt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Mohamad Fattouh,</a:t>
            </a:r>
            <a:endParaRPr lang="en-US" alt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tr-TR" sz="2400" b="1" dirty="0">
                <a:solidFill>
                  <a:schemeClr val="bg1"/>
                </a:solidFill>
                <a:latin typeface="Microsoft YaHei" panose="020B0503020204020204" charset="-122"/>
              </a:rPr>
              <a:t>Mohammad Zain Kabbany</a:t>
            </a:r>
            <a:endParaRPr lang="en-US" altLang="tr-TR" sz="2400"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Problem: severe electricity shortages push households and businesses toward solar, but owners lack location-specific production estimates, which leads to poorly sized and costly installations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Output varies by governorate and season, heat reduces panel efficiency, and buyers are unsure of the long-term cost per kWh (LCOE)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Research question: How do solar irradiance and temperature-adjusted PV output vary across Syria's 14 governorates and months (2015–2025), and what are the expected monthly yield ranges and LCOE for standard system sizes at different upfront costs?</a:t>
            </a:r>
            <a:endParaRPr 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Problem &amp; Research Question</a:t>
            </a:r>
            <a:endParaRPr 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NASA POWER daily data, 2015–2025: https://power.larc.nasa.gov/data-access-viewer/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Variables: ALLSKY_SFC_SW_DWN (solar irradiance, kWh/m²/day), T2M (mean air temperature, °C) and T2M_MAX (maximum temperature, °C, used to estimate panel temperature)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14 governorates × 4,018 days = 56,252 daily records, downloaded through the NASA POWER API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Preparation: no missing values found (rule: gaps up to 3 days interpolated, others dropped); irradiance checked to be physically plausible (observed 0.3–9.0 kWh/m²/day)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Grid tariffs for comparison: Syrian Ministry of Energy tiers effective 1 Nov 2025</a:t>
            </a:r>
            <a:endParaRPr 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Dataset</a:t>
            </a:r>
            <a:endParaRPr 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pandas and requests: download, inspect and clean the data; numpy: calculations; matplotlib: charts; Streamlit: web app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Physics: daily panel temperature → heat loss → daily yield per kWp, with 14% other losses (inverter, wiring, dust)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Aggregation: expected monthly and yearly output with a low–high range (10th–90th percentile of years) and year-to-year variability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Analyses: governorate ranking, seasonal variation, heat-loss quantification, days with high heat loss, correlation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Economics: function lcoe() over 20 years, 8% discount rate, 0.7%/year degradation, maintenance 2% (no batteries) or 10% (with batteries)</a:t>
            </a:r>
            <a:endParaRPr 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Python Approach</a:t>
            </a:r>
            <a:endParaRPr 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7100000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latin typeface="Microsoft YaHei Light" panose="020B0502040204020203" charset="-122"/>
              </a:rPr>
              <a:t>Ranking: As-Suwayda (1,671 kWh/kWp/yr) and Daraa (1,669) lead, Aleppo (1,510) is lowest – a 10.7% spread across governorates</a:t>
            </a:r>
            <a:endParaRPr lang="en-US" sz="14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latin typeface="Microsoft YaHei Light" panose="020B0502040204020203" charset="-122"/>
              </a:rPr>
              <a:t>Example: 10 panels (5.5 kW) in Damascus, $5,000, no batteries – about 9,080 kWh/year (typical-year range 8,970–9,240)</a:t>
            </a:r>
            <a:endParaRPr lang="en-US" sz="14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latin typeface="Microsoft YaHei Light" panose="020B0502040204020203" charset="-122"/>
              </a:rPr>
              <a:t>Heat cuts annual output by 5.0–6.7%; July is the worst month (10.0% average loss), January the best (0%)</a:t>
            </a:r>
            <a:endParaRPr lang="en-US" sz="14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latin typeface="Microsoft YaHei Light" panose="020B0502040204020203" charset="-122"/>
              </a:rPr>
              <a:t>LCOE: $0.070/kWh without batteries (42% below grid tier 2 at $0.122) and $0.117/kWh with batteries (about 4% below)</a:t>
            </a:r>
            <a:endParaRPr lang="en-US" sz="14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latin typeface="Microsoft YaHei Light" panose="020B0502040204020203" charset="-122"/>
              </a:rPr>
              <a:t>Cost assumptions matter more than weather: O&amp;M 2%→10% raises LCOE by about 66%, discount rate 4%→12% by about 62%, year-to-year weather by only about 3%</a:t>
            </a:r>
            <a:endParaRPr lang="en-US" sz="14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Main Results &amp; Visualisations</a:t>
            </a:r>
            <a:endParaRPr 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  <p:pic>
        <p:nvPicPr>
          <p:cNvPr id="901" name="Chart yield ranking" descr="Bar chart: annual solar yield per kWp for the 14 governorate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0000" y="1150000"/>
            <a:ext cx="3600000" cy="2775000"/>
          </a:xfrm>
          <a:prstGeom prst="rect">
            <a:avLst/>
          </a:prstGeom>
        </p:spPr>
      </p:pic>
      <p:pic>
        <p:nvPicPr>
          <p:cNvPr id="902" name="Chart LCOE vs grid" descr="Bar chart: cost per kWh of solar with and without batteries versus grid tiers 1 and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00000" y="4000000"/>
            <a:ext cx="3600000" cy="1995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Solution: web-based decision-support tool (Syria SolarScope) – the user selects a governorate, system size (kW or panels) and capital cost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The tool returns expected energy production with a low–high range, monthly profile, heat loss and the levelized cost per kWh compared with the grid tariffs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Impact: better-sized and better-priced solar installations, supporting a shift from fossil-fuel generation to clean energy (SDG 7 Affordable and Clean Energy, SDG 13 Climate Action)</a:t>
            </a:r>
            <a:endParaRPr 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 panose="020B0502040204020203" charset="-122"/>
              </a:rPr>
              <a:t>Users: households, small businesses and anyone comparing quotes from solar sellers</a:t>
            </a:r>
            <a:endParaRPr 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Impact / Proposed Solution</a:t>
            </a:r>
            <a:endParaRPr 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500" dirty="0">
                <a:latin typeface="Microsoft YaHei Light" panose="020B0502040204020203" charset="-122"/>
              </a:rPr>
              <a:t>Limitations: ~0.5° data resolution – Damascus/Rif Dimashq, Daraa/As-Suwayda and Hama/Idlib share one NASA grid cell (14 governorates, 11 distinct cells); horizontal-surface radiation; estimated panel temperature; dust and maintenance assumptions; changing USD prices and tariffs; planning estimate, not a price quote</a:t>
            </a:r>
            <a:endParaRPr lang="en-US" sz="15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500" dirty="0">
                <a:latin typeface="Microsoft YaHei Light" panose="020B0502040204020203" charset="-122"/>
              </a:rPr>
              <a:t>Next steps: validate against PVGIS / Global Solar Atlas</a:t>
            </a:r>
            <a:endParaRPr lang="en-US" sz="15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500" dirty="0">
                <a:latin typeface="Microsoft YaHei Light" panose="020B0502040204020203" charset="-122"/>
              </a:rPr>
              <a:t>Next steps: compare with diesel-generator electricity cost and add panel tilt</a:t>
            </a:r>
            <a:endParaRPr lang="en-US" sz="15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500" dirty="0">
                <a:latin typeface="Microsoft YaHei Light" panose="020B0502040204020203" charset="-122"/>
              </a:rPr>
              <a:t>Next steps: use live Syrian prices for panels and batteries, update tariffs automatically, compare governorates side by side</a:t>
            </a:r>
            <a:endParaRPr lang="en-US" sz="15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Limitations &amp; Next Steps</a:t>
            </a:r>
            <a:endParaRPr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Rectangle"/>
          <p:cNvSpPr/>
          <p:nvPr/>
        </p:nvSpPr>
        <p:spPr>
          <a:xfrm>
            <a:off x="-11767" y="1343345"/>
            <a:ext cx="12215534" cy="5531503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65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7704" y="2355271"/>
            <a:ext cx="2919045" cy="283709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4" name="Thank you!"/>
          <p:cNvSpPr txBox="1">
            <a:spLocks noGrp="1"/>
          </p:cNvSpPr>
          <p:nvPr>
            <p:ph type="ctrTitle" idx="4294967295"/>
          </p:nvPr>
        </p:nvSpPr>
        <p:spPr>
          <a:xfrm>
            <a:off x="4352098" y="2352844"/>
            <a:ext cx="4403897" cy="3307515"/>
          </a:xfrm>
          <a:prstGeom prst="rect">
            <a:avLst/>
          </a:prstGeom>
        </p:spPr>
        <p:txBody>
          <a:bodyPr lIns="91440" tIns="45720" rIns="91440" bIns="45720" anchor="t"/>
          <a:lstStyle>
            <a:lvl1pPr>
              <a:lnSpc>
                <a:spcPct val="60000"/>
              </a:lnSpc>
              <a:defRPr sz="8000">
                <a:solidFill>
                  <a:srgbClr val="FFFFFF"/>
                </a:solidFill>
                <a:latin typeface="Merriweather Sans Regular ExtraBold"/>
                <a:ea typeface="Merriweather Sans Regular ExtraBold"/>
                <a:cs typeface="Merriweather Sans Regular ExtraBold"/>
                <a:sym typeface="Merriweather Sans Regular ExtraBold"/>
              </a:defRPr>
            </a:lvl1pPr>
          </a:lstStyle>
          <a:p>
            <a:pPr>
              <a:lnSpc>
                <a:spcPct val="100000"/>
              </a:lnSpc>
            </a:pPr>
            <a:r>
              <a:rPr b="1">
                <a:latin typeface="Microsoft YaHei" panose="020B0503020204020204" charset="-122"/>
              </a:rPr>
              <a:t>Thank you!</a:t>
            </a:r>
            <a:endParaRPr lang="en-US" b="1">
              <a:latin typeface="Microsoft YaHei" panose="020B0503020204020204" charset="-122"/>
            </a:endParaRPr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03668" y="647699"/>
            <a:ext cx="5015131" cy="702400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frontiertech">
  <a:themeElements>
    <a:clrScheme name="frontiertech">
      <a:dk1>
        <a:srgbClr val="2B2551"/>
      </a:dk1>
      <a:lt1>
        <a:srgbClr val="FEFFFE"/>
      </a:lt1>
      <a:dk2>
        <a:srgbClr val="A7A7A7"/>
      </a:dk2>
      <a:lt2>
        <a:srgbClr val="535353"/>
      </a:lt2>
      <a:accent1>
        <a:srgbClr val="FEC736"/>
      </a:accent1>
      <a:accent2>
        <a:srgbClr val="4CA2A9"/>
      </a:accent2>
      <a:accent3>
        <a:srgbClr val="5E73AC"/>
      </a:accent3>
      <a:accent4>
        <a:srgbClr val="B68A29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frontiertech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frontierte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iertech">
  <a:themeElements>
    <a:clrScheme name="frontiertech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EC736"/>
      </a:accent1>
      <a:accent2>
        <a:srgbClr val="4CA2A9"/>
      </a:accent2>
      <a:accent3>
        <a:srgbClr val="5E73AC"/>
      </a:accent3>
      <a:accent4>
        <a:srgbClr val="B68A29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frontiertech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frontierte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E9A02BA3BD6C54284F20B51199E6706" ma:contentTypeVersion="17" ma:contentTypeDescription="Create a new document." ma:contentTypeScope="" ma:versionID="c98d0228abce7754384ebe83b64f5abe">
  <xsd:schema xmlns:xsd="http://www.w3.org/2001/XMLSchema" xmlns:xs="http://www.w3.org/2001/XMLSchema" xmlns:p="http://schemas.microsoft.com/office/2006/metadata/properties" xmlns:ns2="6259e846-8b77-4076-b7b3-191dee427045" xmlns:ns3="97847797-b717-4ffb-b5fd-2a237f853cda" targetNamespace="http://schemas.microsoft.com/office/2006/metadata/properties" ma:root="true" ma:fieldsID="6e2117bc6268b3a71bdab3243b1b5906" ns2:_="" ns3:_="">
    <xsd:import namespace="6259e846-8b77-4076-b7b3-191dee427045"/>
    <xsd:import namespace="97847797-b717-4ffb-b5fd-2a237f853c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_Flow_SignoffStatus" minOccurs="0"/>
                <xsd:element ref="ns2:Tim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9e846-8b77-4076-b7b3-191dee4270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f8ebb0a5-c57d-4c3a-bec7-8a38252dd05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2" nillable="true" ma:displayName="Sign-off status" ma:internalName="Sign_x002d_off_x0020_status">
      <xsd:simpleType>
        <xsd:restriction base="dms:Text"/>
      </xsd:simpleType>
    </xsd:element>
    <xsd:element name="Time" ma:index="23" nillable="true" ma:displayName="Time" ma:format="DateOnly" ma:indexed="true" ma:internalName="Time">
      <xsd:simpleType>
        <xsd:restriction base="dms:DateTim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847797-b717-4ffb-b5fd-2a237f853cda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1c6c02b-ebe2-4c4d-aa1a-1071032b151f}" ma:internalName="TaxCatchAll" ma:showField="CatchAllData" ma:web="97847797-b717-4ffb-b5fd-2a237f853c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7847797-b717-4ffb-b5fd-2a237f853cda" xsi:nil="true"/>
    <lcf76f155ced4ddcb4097134ff3c332f xmlns="6259e846-8b77-4076-b7b3-191dee427045">
      <Terms xmlns="http://schemas.microsoft.com/office/infopath/2007/PartnerControls"/>
    </lcf76f155ced4ddcb4097134ff3c332f>
    <SharedWithUsers xmlns="97847797-b717-4ffb-b5fd-2a237f853cda">
      <UserInfo>
        <DisplayName>Yawen Liu</DisplayName>
        <AccountId>199</AccountId>
        <AccountType/>
      </UserInfo>
    </SharedWithUsers>
    <_Flow_SignoffStatus xmlns="6259e846-8b77-4076-b7b3-191dee427045" xsi:nil="true"/>
    <Time xmlns="6259e846-8b77-4076-b7b3-191dee42704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C708245-87D3-4681-A12F-8891E23D58FB}">
  <ds:schemaRefs/>
</ds:datastoreItem>
</file>

<file path=customXml/itemProps2.xml><?xml version="1.0" encoding="utf-8"?>
<ds:datastoreItem xmlns:ds="http://schemas.openxmlformats.org/officeDocument/2006/customXml" ds:itemID="{A22449C5-8A7C-4DDF-8BBD-9834F5F8D2B3}">
  <ds:schemaRefs/>
</ds:datastoreItem>
</file>

<file path=customXml/itemProps3.xml><?xml version="1.0" encoding="utf-8"?>
<ds:datastoreItem xmlns:ds="http://schemas.openxmlformats.org/officeDocument/2006/customXml" ds:itemID="{E2FFB1A3-86F8-4D83-B399-9B6D5E293CE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3821</Words>
  <Application>WPS Presentation</Application>
  <PresentationFormat>Widescreen</PresentationFormat>
  <Paragraphs>60</Paragraphs>
  <Slides>9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5" baseType="lpstr">
      <vt:lpstr>Arial</vt:lpstr>
      <vt:lpstr>SimSun</vt:lpstr>
      <vt:lpstr>Wingdings</vt:lpstr>
      <vt:lpstr>Calibri</vt:lpstr>
      <vt:lpstr>Calibri Light</vt:lpstr>
      <vt:lpstr>Arial</vt:lpstr>
      <vt:lpstr>Helvetica Neue Thin</vt:lpstr>
      <vt:lpstr>Segoe Print</vt:lpstr>
      <vt:lpstr>Myriad Pro Semibold</vt:lpstr>
      <vt:lpstr>Microsoft YaHei</vt:lpstr>
      <vt:lpstr>Merriweather Sans Light</vt:lpstr>
      <vt:lpstr>Microsoft YaHei Light</vt:lpstr>
      <vt:lpstr>Merriweather Sans Regular</vt:lpstr>
      <vt:lpstr>Merriweather Sans Regular ExtraBold</vt:lpstr>
      <vt:lpstr>Arial Unicode MS</vt:lpstr>
      <vt:lpstr>frontiertech</vt:lpstr>
      <vt:lpstr>PowerPoint 演示文稿</vt:lpstr>
      <vt:lpstr>PowerPoint 演示文稿</vt:lpstr>
      <vt:lpstr>Problem &amp; Research Question</vt:lpstr>
      <vt:lpstr>Dataset</vt:lpstr>
      <vt:lpstr>Python Approach</vt:lpstr>
      <vt:lpstr>Main Results &amp; Visualisations</vt:lpstr>
      <vt:lpstr>Impact / Proposed Solution</vt:lpstr>
      <vt:lpstr>Limitations &amp; Next Steps</vt:lpstr>
      <vt:lpstr>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jawad alshibly</cp:lastModifiedBy>
  <cp:revision>17</cp:revision>
  <dcterms:created xsi:type="dcterms:W3CDTF">2026-10-02T10:20:36Z</dcterms:created>
  <dcterms:modified xsi:type="dcterms:W3CDTF">2026-10-02T10:22:44Z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0x0101007E9A02BA3BD6C54284F20B51199E6706</vt:lpwstr>
  </property>
  <property fmtid="{D5CDD505-2E9C-101B-9397-08002B2CF9AE}" pid="3" name="MediaServiceImageTags">
    <vt:lpwstr/>
  </property>
  <property fmtid="{D5CDD505-2E9C-101B-9397-08002B2CF9AE}" pid="4" name="ICV">
    <vt:lpwstr>1458D997FB7C4A6ABC070EE7D51D9ACE_12</vt:lpwstr>
  </property>
  <property fmtid="{D5CDD505-2E9C-101B-9397-08002B2CF9AE}" pid="5" name="KSOProductBuildVer">
    <vt:lpwstr>1033-12.1.0.28485</vt:lpwstr>
  </property>
</Properties>
</file>