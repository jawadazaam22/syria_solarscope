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69" r:id="rId6"/>
    <p:sldId id="288" r:id="rId7"/>
    <p:sldId id="290" r:id="rId8"/>
    <p:sldId id="289" r:id="rId9"/>
    <p:sldId id="291" r:id="rId10"/>
    <p:sldId id="277" r:id="rId11"/>
    <p:sldId id="268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6"/>
    <p:restoredTop sz="94645"/>
  </p:normalViewPr>
  <p:slideViewPr>
    <p:cSldViewPr snapToGrid="0">
      <p:cViewPr varScale="1">
        <p:scale>
          <a:sx n="162" d="100"/>
          <a:sy n="162" d="100"/>
        </p:scale>
        <p:origin x="1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microsoft.com/office/2018/10/relationships/authors" Target="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22541.000 4514.000 8642 0 0,'0.000'0.000'0'0'0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"/>
    </inkml:context>
    <inkml:brush xml:id="br0">
      <inkml:brushProperty name="width" value="0.1" units="cm"/>
      <inkml:brushProperty name="height" value="0.1" units="cm"/>
      <inkml:brushProperty name="color" value="#000000"/>
    </inkml:brush>
  </inkml:definitions>
  <inkml:trace contextRef="#ctx0" brushRef="#br0">8758.000 4343.000 1183 0 0,'1.000'-6.000'2657'0'0,"0.000"-1.000"-2657"0"0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5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9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</a:p>
        </p:txBody>
      </p:sp>
      <p:sp>
        <p:nvSpPr>
          <p:cNvPr id="28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</a:p>
        </p:txBody>
      </p:sp>
      <p:sp>
        <p:nvSpPr>
          <p:cNvPr id="4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FFC837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2.xml"/><Relationship Id="rId7" Type="http://schemas.openxmlformats.org/officeDocument/2006/relationships/image" Target="../media/image14.png"/><Relationship Id="rId6" Type="http://schemas.openxmlformats.org/officeDocument/2006/relationships/customXml" Target="../ink/ink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4.xml"/><Relationship Id="rId7" Type="http://schemas.openxmlformats.org/officeDocument/2006/relationships/image" Target="../media/image14.png"/><Relationship Id="rId6" Type="http://schemas.openxmlformats.org/officeDocument/2006/relationships/customXml" Target="../ink/ink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6.xml"/><Relationship Id="rId7" Type="http://schemas.openxmlformats.org/officeDocument/2006/relationships/image" Target="../media/image14.png"/><Relationship Id="rId6" Type="http://schemas.openxmlformats.org/officeDocument/2006/relationships/customXml" Target="../ink/ink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8.xml"/><Relationship Id="rId7" Type="http://schemas.openxmlformats.org/officeDocument/2006/relationships/image" Target="../media/image14.png"/><Relationship Id="rId6" Type="http://schemas.openxmlformats.org/officeDocument/2006/relationships/customXml" Target="../ink/ink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31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0.xml"/><Relationship Id="rId7" Type="http://schemas.openxmlformats.org/officeDocument/2006/relationships/image" Target="../media/image14.png"/><Relationship Id="rId6" Type="http://schemas.openxmlformats.org/officeDocument/2006/relationships/customXml" Target="../ink/ink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customXml" Target="../ink/ink12.xml"/><Relationship Id="rId7" Type="http://schemas.openxmlformats.org/officeDocument/2006/relationships/image" Target="../media/image14.png"/><Relationship Id="rId6" Type="http://schemas.openxmlformats.org/officeDocument/2006/relationships/customXml" Target="../ink/ink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3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/>
          <p:cNvPicPr>
            <a:picLocks noChangeAspect="1"/>
          </p:cNvPicPr>
          <p:nvPr/>
        </p:nvPicPr>
        <p:blipFill rotWithShape="1">
          <a:blip r:embed="rId1"/>
          <a:srcRect l="28" t="125" r="5881" b="35700"/>
          <a:stretch>
            <a:fillRect/>
          </a:stretch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"/>
          <p:cNvSpPr/>
          <p:nvPr/>
        </p:nvSpPr>
        <p:spPr>
          <a:xfrm rot="2142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76" name="A new generation…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ln w="12700">
            <a:miter lim="400000"/>
          </a:ln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 panose="020B0503020204020204" charset="-122"/>
              </a:rPr>
              <a:t>A new generation</a:t>
            </a:r>
            <a:endParaRPr lang="en-US" b="1" dirty="0">
              <a:latin typeface="Microsoft YaHei" panose="020B0503020204020204" charset="-122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 panose="020B0503020204020204" charset="-122"/>
              </a:rPr>
              <a:t>of tech specialists</a:t>
            </a:r>
            <a:endParaRPr b="1" dirty="0">
              <a:latin typeface="Microsoft YaHei" panose="020B0503020204020204" charset="-122"/>
            </a:endParaRPr>
          </a:p>
        </p:txBody>
      </p:sp>
      <p:sp>
        <p:nvSpPr>
          <p:cNvPr id="3" name="A new generation…"/>
          <p:cNvSpPr txBox="1"/>
          <p:nvPr/>
        </p:nvSpPr>
        <p:spPr>
          <a:xfrm>
            <a:off x="6485219" y="5015511"/>
            <a:ext cx="3606113" cy="661720"/>
          </a:xfrm>
          <a:prstGeom prst="rect">
            <a:avLst/>
          </a:prstGeom>
          <a:ln w="12700">
            <a:miter lim="400000"/>
          </a:ln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b="1" dirty="0">
                <a:solidFill>
                  <a:schemeClr val="bg1"/>
                </a:solidFill>
                <a:latin typeface="Microsoft YaHei" panose="020B0503020204020204" charset="-122"/>
              </a:rPr>
              <a:t>Group 8</a:t>
            </a:r>
            <a:endParaRPr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5"/>
          <a:srcRect l="1000" r="13538" b="33964"/>
          <a:stretch>
            <a:fillRect/>
          </a:stretch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" name="A new generation…"/>
          <p:cNvSpPr txBox="1"/>
          <p:nvPr/>
        </p:nvSpPr>
        <p:spPr>
          <a:xfrm>
            <a:off x="7415288" y="1866821"/>
            <a:ext cx="4345976" cy="3415030"/>
          </a:xfrm>
          <a:prstGeom prst="rect">
            <a:avLst/>
          </a:prstGeom>
          <a:ln w="12700">
            <a:miter lim="400000"/>
          </a:ln>
        </p:spPr>
        <p:txBody>
          <a:bodyPr wrap="square" lIns="45719" tIns="45720" rIns="45719" bIns="45720" anchor="t">
            <a:spAutoFit/>
          </a:bodyPr>
          <a:lstStyle/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Syria SolarScope / Group 8</a:t>
            </a:r>
            <a:endParaRPr 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 </a:t>
            </a:r>
            <a:endParaRPr 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Jawad Osama Alshepli Azzam,</a:t>
            </a:r>
            <a:endParaRPr 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 </a:t>
            </a:r>
            <a:r>
              <a:rPr lang="en-US" alt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Hadi Alkhaier,</a:t>
            </a:r>
            <a:endParaRPr lang="en-US" alt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Ibrahim Solaiman,</a:t>
            </a:r>
            <a:endParaRPr lang="en-US" alt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Mahmoud Mamo,</a:t>
            </a:r>
            <a:endParaRPr lang="en-US" alt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Mohamad Fattouh,</a:t>
            </a:r>
            <a:endParaRPr lang="en-US" alt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  <a:p>
            <a:pPr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altLang="tr-TR" sz="2400" b="1" dirty="0">
                <a:solidFill>
                  <a:schemeClr val="bg1"/>
                </a:solidFill>
                <a:latin typeface="Microsoft YaHei" panose="020B0503020204020204" charset="-122"/>
              </a:rPr>
              <a:t>Mohammad Zain Kabbany</a:t>
            </a:r>
            <a:endParaRPr lang="en-US" altLang="tr-TR" sz="2400" b="1" dirty="0">
              <a:solidFill>
                <a:schemeClr val="bg1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Problem: severe electricity shortages push households and businesses toward solar, but owners lack location-specific production estimates, which leads to poorly sized and costly installations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Output varies by governorate and season, heat reduces panel efficiency, and buyers are unsure of the long-term cost per kWh (LCOE)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Research question: How do solar irradiance and temperature-adjusted PV output vary across Syria's 14 governorates and months (2015–2025), and what are the expected monthly yield ranges and LCOE for standard system sizes at different upfront costs?</a:t>
            </a:r>
            <a:endParaRPr 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Problem &amp; Research Question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NASA POWER daily data, 2015–2025: https://power.larc.nasa.gov/data-access-viewer/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Variables: ALLSKY_SFC_SW_DWN (solar irradiance, kWh/m²/day), T2M (mean air temperature, °C) and T2M_MAX (maximum temperature, °C, used to estimate panel temperature)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14 governorates × 4,018 days = 56,252 daily records, downloaded through the NASA POWER API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Preparation: no missing values found (rule: gaps up to 3 days interpolated, others dropped); irradiance checked to be physically plausible (observed 0.3–9.0 kWh/m²/day)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Grid tariffs for comparison: Syrian Ministry of Energy tiers effective 1 Nov 2025</a:t>
            </a:r>
            <a:endParaRPr 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Dataset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pandas and requests: download, inspect and clean the data; numpy: calculations; matplotlib: charts; Streamlit: web app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Physics: daily panel temperature → heat loss → daily yield per kWp, with 14% other losses (inverter, wiring, dust)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Aggregation: expected monthly and yearly output with a low–high range (10th–90th percentile of years) and year-to-year variability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Analyses: governorate ranking, seasonal variation, heat-loss quantification, days with high heat loss, correlation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Economics: function lcoe() over 20 years, 8% discount rate, 0.7%/year degradation, maintenance 2% (no batteries) or 10% (with batteries)</a:t>
            </a:r>
            <a:endParaRPr 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Python Approach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7100000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 panose="020B0502040204020203" charset="-122"/>
              </a:rPr>
              <a:t>Ranking: As-Suwayda (1,671 kWh/kWp/yr) and Daraa (1,669) lead, Aleppo (1,510) is lowest – a 10.7% spread across governorates</a:t>
            </a:r>
            <a:endParaRPr lang="en-US" sz="14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 panose="020B0502040204020203" charset="-122"/>
              </a:rPr>
              <a:t>Example: 10 panels (5.5 kW) in Damascus, $5,000, no batteries – about 9,080 kWh/year (typical-year range 8,970–9,240)</a:t>
            </a:r>
            <a:endParaRPr lang="en-US" sz="14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 panose="020B0502040204020203" charset="-122"/>
              </a:rPr>
              <a:t>Heat cuts annual output by 5.0–6.7%; July is the worst month (10.0% average loss), January the best (0%)</a:t>
            </a:r>
            <a:endParaRPr lang="en-US" sz="14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 panose="020B0502040204020203" charset="-122"/>
              </a:rPr>
              <a:t>LCOE: $0.070/kWh without batteries (32% below grid tier 2 at $0.104) and $0.117/kWh with batteries (about 12% above)</a:t>
            </a:r>
            <a:endParaRPr lang="en-US" sz="14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400" dirty="0">
                <a:latin typeface="Microsoft YaHei Light" panose="020B0502040204020203" charset="-122"/>
              </a:rPr>
              <a:t>Cost assumptions matter more than weather: O&amp;M 2%→10% raises LCOE by about 66%, discount rate 4%→12% by about 62%, year-to-year weather by only about 3%</a:t>
            </a:r>
            <a:endParaRPr lang="en-US" sz="14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Main Results &amp; Visualisations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  <p:pic>
        <p:nvPicPr>
          <p:cNvPr id="901" name="Chart yield ranking" descr="Bar chart: annual solar yield per kWp for the 14 governorat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0000" y="1150000"/>
            <a:ext cx="3600000" cy="2775000"/>
          </a:xfrm>
          <a:prstGeom prst="rect">
            <a:avLst/>
          </a:prstGeom>
        </p:spPr>
      </p:pic>
      <p:pic>
        <p:nvPicPr>
          <p:cNvPr id="902" name="Chart LCOE vs grid" descr="Bar chart: cost per kWh of solar with and without batteries versus grid tiers 1 and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0000" y="4000000"/>
            <a:ext cx="3600000" cy="1995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Solution: web-based decision-support tool (Syria SolarScope) – the user selects a governorate, system size (kW or panels) and capital cost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The tool returns expected energy production with a low–high range, monthly profile, heat loss and the levelized cost per kWh compared with the grid tariffs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Impact: better-sized and better-priced solar installations, supporting a shift from fossil-fuel generation to clean energy (SDG 7 Affordable and Clean Energy, SDG 13 Climate Action)</a:t>
            </a:r>
            <a:endParaRPr lang="en-US" sz="16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latin typeface="Microsoft YaHei Light" panose="020B0502040204020203" charset="-122"/>
              </a:rPr>
              <a:t>Users: households, small businesses and anyone comparing quotes from solar sellers</a:t>
            </a:r>
            <a:endParaRPr lang="en-US" sz="16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Impact / Proposed Solution</a:t>
            </a:r>
            <a:endParaRPr lang="tr-TR"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500" dirty="0">
                <a:latin typeface="Microsoft YaHei Light" panose="020B0502040204020203" charset="-122"/>
              </a:rPr>
              <a:t>Limitations: ~0.5° data resolution – Damascus/Rif Dimashq, Daraa/As-Suwayda and Hama/Idlib share one NASA grid cell (14 governorates, 11 distinct cells); horizontal-surface radiation; estimated panel temperature; dust and maintenance assumptions; changing USD prices and tariffs; planning estimate, not a price quote</a:t>
            </a:r>
            <a:endParaRPr lang="en-US" sz="15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500" dirty="0">
                <a:latin typeface="Microsoft YaHei Light" panose="020B0502040204020203" charset="-122"/>
              </a:rPr>
              <a:t>Next steps: validate against PVGIS / Global Solar Atlas</a:t>
            </a:r>
            <a:endParaRPr lang="en-US" sz="15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500" dirty="0">
                <a:latin typeface="Microsoft YaHei Light" panose="020B0502040204020203" charset="-122"/>
              </a:rPr>
              <a:t>Next steps: compare with diesel-generator electricity cost and add panel tilt</a:t>
            </a:r>
            <a:endParaRPr lang="en-US" sz="1500" dirty="0">
              <a:latin typeface="Microsoft YaHei Light" panose="020B0502040204020203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500" dirty="0">
                <a:latin typeface="Microsoft YaHei Light" panose="020B0502040204020203" charset="-122"/>
              </a:rPr>
              <a:t>Next steps: use live Syrian prices for panels and batteries, update tariffs automatically, compare governorates side by side</a:t>
            </a:r>
            <a:endParaRPr lang="en-US" sz="1500" dirty="0">
              <a:latin typeface="Microsoft YaHei Light" panose="020B0502040204020203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655">
              <a:defRPr sz="3395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 panose="020B0503020204020204" charset="-122"/>
                <a:ea typeface="Merriweather Sans Regular ExtraBold"/>
                <a:cs typeface="Merriweather Sans Regular ExtraBold"/>
              </a:rPr>
              <a:t>Limitations &amp; Next Steps</a:t>
            </a:r>
            <a:endParaRPr sz="3350" b="1" dirty="0">
              <a:solidFill>
                <a:schemeClr val="bg1"/>
              </a:solidFill>
              <a:latin typeface="Microsoft YaHei" panose="020B0503020204020204" charset="-122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" name="Group 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5" name="Picture 14" descr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6" name="pasted-movie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" name="pasted-movie.png"/>
            <p:cNvPicPr>
              <a:picLocks noChangeAspect="1"/>
            </p:cNvPicPr>
            <p:nvPr/>
          </p:nvPicPr>
          <p:blipFill>
            <a:blip r:embed="rId5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" name="Ink 19"/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7"/>
            </p:blipFill>
            <p:spPr>
              <a:xfrm>
                <a:off x="9907437" y="716254"/>
                <a:ext cx="13252" cy="13252"/>
              </a:xfrm>
              <a:prstGeom prst="rect"/>
            </p:spPr>
          </p:pic>
        </mc:Fallback>
      </mc:AlternateContent>
      <p:sp>
        <p:nvSpPr>
          <p:cNvPr id="22" name="Rectangle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3" name="Ink 22"/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9"/>
            </p:blipFill>
            <p:spPr>
              <a:xfrm>
                <a:off x="1100137" y="565105"/>
                <a:ext cx="13252" cy="13252"/>
              </a:xfrm>
              <a:prstGeom prst="rect"/>
            </p:spPr>
          </p:pic>
        </mc:Fallback>
      </mc:AlternateContent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4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b="1">
                <a:latin typeface="Microsoft YaHei" panose="020B0503020204020204" charset="-122"/>
              </a:rPr>
              <a:t>Thank you!</a:t>
            </a:r>
            <a:endParaRPr lang="en-US" b="1">
              <a:latin typeface="Microsoft YaHei" panose="020B0503020204020204" charset="-122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708245-87D3-4681-A12F-8891E23D58FB}">
  <ds:schemaRefs/>
</ds:datastoreItem>
</file>

<file path=customXml/itemProps2.xml><?xml version="1.0" encoding="utf-8"?>
<ds:datastoreItem xmlns:ds="http://schemas.openxmlformats.org/officeDocument/2006/customXml" ds:itemID="{A22449C5-8A7C-4DDF-8BBD-9834F5F8D2B3}">
  <ds:schemaRefs/>
</ds:datastoreItem>
</file>

<file path=customXml/itemProps3.xml><?xml version="1.0" encoding="utf-8"?>
<ds:datastoreItem xmlns:ds="http://schemas.openxmlformats.org/officeDocument/2006/customXml" ds:itemID="{E2FFB1A3-86F8-4D83-B399-9B6D5E293CE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3821</Words>
  <Application>WPS Presentation</Application>
  <PresentationFormat>Widescreen</PresentationFormat>
  <Paragraphs>60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 Light</vt:lpstr>
      <vt:lpstr>Arial</vt:lpstr>
      <vt:lpstr>Helvetica Neue Thin</vt:lpstr>
      <vt:lpstr>Segoe Print</vt:lpstr>
      <vt:lpstr>Myriad Pro Semibold</vt:lpstr>
      <vt:lpstr>Microsoft YaHei</vt:lpstr>
      <vt:lpstr>Merriweather Sans Light</vt:lpstr>
      <vt:lpstr>Microsoft YaHei Light</vt:lpstr>
      <vt:lpstr>Merriweather Sans Regular</vt:lpstr>
      <vt:lpstr>Merriweather Sans Regular ExtraBold</vt:lpstr>
      <vt:lpstr>Arial Unicode MS</vt:lpstr>
      <vt:lpstr>frontiertech</vt:lpstr>
      <vt:lpstr>PowerPoint 演示文稿</vt:lpstr>
      <vt:lpstr>PowerPoint 演示文稿</vt:lpstr>
      <vt:lpstr>Problem &amp; Research Question</vt:lpstr>
      <vt:lpstr>Dataset</vt:lpstr>
      <vt:lpstr>Python Approach</vt:lpstr>
      <vt:lpstr>Main Results &amp; Visualisations</vt:lpstr>
      <vt:lpstr>Impact / Proposed Solution</vt:lpstr>
      <vt:lpstr>Limitations &amp; Next Steps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jawad alshibly</cp:lastModifiedBy>
  <cp:revision>17</cp:revision>
  <dcterms:created xsi:type="dcterms:W3CDTF">2026-10-02T10:20:36Z</dcterms:created>
  <dcterms:modified xsi:type="dcterms:W3CDTF">2026-10-02T10:22:44Z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  <property fmtid="{D5CDD505-2E9C-101B-9397-08002B2CF9AE}" pid="4" name="ICV">
    <vt:lpwstr>1458D997FB7C4A6ABC070EE7D51D9ACE_12</vt:lpwstr>
  </property>
  <property fmtid="{D5CDD505-2E9C-101B-9397-08002B2CF9AE}" pid="5" name="KSOProductBuildVer">
    <vt:lpwstr>1033-12.1.0.28485</vt:lpwstr>
  </property>
</Properties>
</file>